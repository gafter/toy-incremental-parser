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9" r:id="rId9"/>
    <p:sldId id="266" r:id="rId10"/>
    <p:sldId id="267" r:id="rId11"/>
    <p:sldId id="265" r:id="rId12"/>
    <p:sldId id="264" r:id="rId13"/>
    <p:sldId id="270" r:id="rId14"/>
    <p:sldId id="268" r:id="rId15"/>
    <p:sldId id="25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-3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06531-6221-4559-B599-18D543E8AE92}" type="datetimeFigureOut">
              <a:rPr lang="en-US" smtClean="0"/>
              <a:pPr/>
              <a:t>7/28/2009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50AA9-9A17-48B6-9802-BB57D9F888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Code Model </a:t>
            </a:r>
            <a:r>
              <a:rPr lang="en-US" dirty="0" err="1" smtClean="0"/>
              <a:t>Strawman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Handling Comments and Preprocessor Directives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</a:p>
          <a:p>
            <a:pPr lvl="1"/>
            <a:r>
              <a:rPr lang="en-US" dirty="0" smtClean="0"/>
              <a:t>Comments, Preprocessing Directives, and Whitespace(?)</a:t>
            </a:r>
          </a:p>
          <a:p>
            <a:pPr lvl="1"/>
            <a:r>
              <a:rPr lang="en-US" dirty="0" smtClean="0"/>
              <a:t>Green vs. Red Representation</a:t>
            </a:r>
          </a:p>
          <a:p>
            <a:endParaRPr lang="en-US" dirty="0" smtClean="0"/>
          </a:p>
          <a:p>
            <a:r>
              <a:rPr lang="en-US" dirty="0" smtClean="0"/>
              <a:t>A code model for the preprocessor</a:t>
            </a:r>
          </a:p>
          <a:p>
            <a:endParaRPr lang="en-US" dirty="0"/>
          </a:p>
          <a:p>
            <a:r>
              <a:rPr lang="en-US" dirty="0" smtClean="0"/>
              <a:t>Open questions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Lexical rule (Tokens):</a:t>
            </a:r>
          </a:p>
          <a:p>
            <a:pPr lvl="1"/>
            <a:r>
              <a:rPr lang="en-US" dirty="0" smtClean="0"/>
              <a:t>If a comment follows a token on the same line, then it is “attached” to the “right” of that token.</a:t>
            </a:r>
          </a:p>
          <a:p>
            <a:pPr lvl="1"/>
            <a:r>
              <a:rPr lang="en-US" dirty="0" smtClean="0"/>
              <a:t>Otherwise, it is “attached” to the “left” of the following token.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 smtClean="0"/>
              <a:t>e.g.</a:t>
            </a:r>
          </a:p>
          <a:p>
            <a:pPr lvl="2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// this is attached to the left of ‘x’</a:t>
            </a:r>
          </a:p>
          <a:p>
            <a:pPr lvl="2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= y + z; // attached to the right of ‘;’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Syntactic Rule (Trees):</a:t>
            </a:r>
          </a:p>
          <a:p>
            <a:pPr lvl="1"/>
            <a:r>
              <a:rPr lang="en-US" dirty="0" smtClean="0"/>
              <a:t>If the left child has a left comment, it becomes the parent’s left comment (not the child’s)</a:t>
            </a:r>
          </a:p>
          <a:p>
            <a:pPr lvl="1"/>
            <a:r>
              <a:rPr lang="en-US" dirty="0" smtClean="0"/>
              <a:t>If the right child has a right comment, it becomes the parent’s right comment (not the child’s)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L</a:t>
            </a:r>
            <a:r>
              <a:rPr lang="en-US" dirty="0" smtClean="0"/>
              <a:t>ists” never get comments.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1242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576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8580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246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7912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578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7244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10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9718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/>
          <p:cNvSpPr/>
          <p:nvPr/>
        </p:nvSpPr>
        <p:spPr>
          <a:xfrm>
            <a:off x="59436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/>
          <p:cNvSpPr/>
          <p:nvPr/>
        </p:nvSpPr>
        <p:spPr>
          <a:xfrm>
            <a:off x="70104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A stream of tokens with attached comments: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876800" y="18288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2819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810000" y="2819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267200" y="3962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200400" y="3962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00800" y="3962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34000" y="3962400"/>
            <a:ext cx="533400" cy="5334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1242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576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8580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246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7912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578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7244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1000" y="5029200"/>
            <a:ext cx="228600" cy="304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9718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stCxn id="15" idx="4"/>
            <a:endCxn id="18" idx="0"/>
          </p:cNvCxnSpPr>
          <p:nvPr/>
        </p:nvCxnSpPr>
        <p:spPr>
          <a:xfrm rot="5400000">
            <a:off x="30861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1" name="Straight Arrow Connector 30"/>
          <p:cNvCxnSpPr>
            <a:stCxn id="15" idx="4"/>
            <a:endCxn id="19" idx="0"/>
          </p:cNvCxnSpPr>
          <p:nvPr/>
        </p:nvCxnSpPr>
        <p:spPr>
          <a:xfrm rot="16200000" flipH="1">
            <a:off x="33528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41910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44577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257800" y="4648201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H="1">
            <a:off x="5524500" y="4610101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62484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65151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8" name="Straight Arrow Connector 37"/>
          <p:cNvCxnSpPr>
            <a:stCxn id="13" idx="4"/>
            <a:endCxn id="15" idx="0"/>
          </p:cNvCxnSpPr>
          <p:nvPr/>
        </p:nvCxnSpPr>
        <p:spPr>
          <a:xfrm rot="5400000">
            <a:off x="3467100" y="3352800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Straight Arrow Connector 40"/>
          <p:cNvCxnSpPr>
            <a:stCxn id="13" idx="4"/>
            <a:endCxn id="14" idx="0"/>
          </p:cNvCxnSpPr>
          <p:nvPr/>
        </p:nvCxnSpPr>
        <p:spPr>
          <a:xfrm rot="16200000" flipH="1">
            <a:off x="4000500" y="34290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5562600" y="3352801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/>
          <p:nvPr/>
        </p:nvCxnSpPr>
        <p:spPr>
          <a:xfrm rot="16200000" flipH="1">
            <a:off x="6096000" y="3429001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6" name="Straight Arrow Connector 45"/>
          <p:cNvCxnSpPr>
            <a:endCxn id="13" idx="7"/>
          </p:cNvCxnSpPr>
          <p:nvPr/>
        </p:nvCxnSpPr>
        <p:spPr>
          <a:xfrm rot="10800000" flipV="1">
            <a:off x="4265286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7" name="Straight Arrow Connector 46"/>
          <p:cNvCxnSpPr>
            <a:endCxn id="12" idx="1"/>
          </p:cNvCxnSpPr>
          <p:nvPr/>
        </p:nvCxnSpPr>
        <p:spPr>
          <a:xfrm>
            <a:off x="5105400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54" name="Isosceles Triangle 53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/>
          <p:cNvSpPr/>
          <p:nvPr/>
        </p:nvSpPr>
        <p:spPr>
          <a:xfrm>
            <a:off x="59436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/>
          <p:cNvSpPr/>
          <p:nvPr/>
        </p:nvSpPr>
        <p:spPr>
          <a:xfrm>
            <a:off x="70104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Parsed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876800" y="1828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2819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810000" y="2819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2672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2004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008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340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1242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576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8580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246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7912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578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7244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10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9718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stCxn id="15" idx="4"/>
            <a:endCxn id="18" idx="0"/>
          </p:cNvCxnSpPr>
          <p:nvPr/>
        </p:nvCxnSpPr>
        <p:spPr>
          <a:xfrm rot="5400000">
            <a:off x="30861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1" name="Straight Arrow Connector 30"/>
          <p:cNvCxnSpPr>
            <a:stCxn id="15" idx="4"/>
            <a:endCxn id="19" idx="0"/>
          </p:cNvCxnSpPr>
          <p:nvPr/>
        </p:nvCxnSpPr>
        <p:spPr>
          <a:xfrm rot="16200000" flipH="1">
            <a:off x="33528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41910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44577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257800" y="4648201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H="1">
            <a:off x="5524500" y="4610101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62484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65151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8" name="Straight Arrow Connector 37"/>
          <p:cNvCxnSpPr>
            <a:stCxn id="13" idx="4"/>
            <a:endCxn id="15" idx="0"/>
          </p:cNvCxnSpPr>
          <p:nvPr/>
        </p:nvCxnSpPr>
        <p:spPr>
          <a:xfrm rot="5400000">
            <a:off x="3467100" y="3352800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1" name="Straight Arrow Connector 40"/>
          <p:cNvCxnSpPr>
            <a:stCxn id="13" idx="4"/>
            <a:endCxn id="14" idx="0"/>
          </p:cNvCxnSpPr>
          <p:nvPr/>
        </p:nvCxnSpPr>
        <p:spPr>
          <a:xfrm rot="16200000" flipH="1">
            <a:off x="4000500" y="34290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5562600" y="3352801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/>
          <p:nvPr/>
        </p:nvCxnSpPr>
        <p:spPr>
          <a:xfrm rot="16200000" flipH="1">
            <a:off x="6096000" y="3429001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6" name="Straight Arrow Connector 45"/>
          <p:cNvCxnSpPr>
            <a:endCxn id="13" idx="7"/>
          </p:cNvCxnSpPr>
          <p:nvPr/>
        </p:nvCxnSpPr>
        <p:spPr>
          <a:xfrm rot="10800000" flipV="1">
            <a:off x="4265286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7" name="Straight Arrow Connector 46"/>
          <p:cNvCxnSpPr>
            <a:endCxn id="12" idx="1"/>
          </p:cNvCxnSpPr>
          <p:nvPr/>
        </p:nvCxnSpPr>
        <p:spPr>
          <a:xfrm>
            <a:off x="5105400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54" name="Isosceles Triangle 53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/>
          <p:cNvSpPr/>
          <p:nvPr/>
        </p:nvSpPr>
        <p:spPr>
          <a:xfrm>
            <a:off x="59436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Isosceles Triangle 55"/>
          <p:cNvSpPr/>
          <p:nvPr/>
        </p:nvSpPr>
        <p:spPr>
          <a:xfrm>
            <a:off x="70104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4648200" y="21336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5410200" y="21336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5867400" y="42672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urved Connector 49"/>
          <p:cNvCxnSpPr>
            <a:stCxn id="26" idx="1"/>
            <a:endCxn id="39" idx="1"/>
          </p:cNvCxnSpPr>
          <p:nvPr/>
        </p:nvCxnSpPr>
        <p:spPr>
          <a:xfrm rot="10800000" flipH="1">
            <a:off x="3028950" y="2286000"/>
            <a:ext cx="1676400" cy="3200400"/>
          </a:xfrm>
          <a:prstGeom prst="curvedConnector3">
            <a:avLst>
              <a:gd name="adj1" fmla="val -1704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urved Connector 51"/>
          <p:cNvCxnSpPr>
            <a:stCxn id="56" idx="5"/>
            <a:endCxn id="40" idx="5"/>
          </p:cNvCxnSpPr>
          <p:nvPr/>
        </p:nvCxnSpPr>
        <p:spPr>
          <a:xfrm flipH="1" flipV="1">
            <a:off x="5581650" y="2286000"/>
            <a:ext cx="1600200" cy="3200400"/>
          </a:xfrm>
          <a:prstGeom prst="curvedConnector3">
            <a:avLst>
              <a:gd name="adj1" fmla="val -1785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urved Connector 56"/>
          <p:cNvCxnSpPr>
            <a:stCxn id="55" idx="5"/>
            <a:endCxn id="42" idx="5"/>
          </p:cNvCxnSpPr>
          <p:nvPr/>
        </p:nvCxnSpPr>
        <p:spPr>
          <a:xfrm flipH="1" flipV="1">
            <a:off x="6038850" y="4419600"/>
            <a:ext cx="76200" cy="1066800"/>
          </a:xfrm>
          <a:prstGeom prst="curvedConnector3">
            <a:avLst>
              <a:gd name="adj1" fmla="val -375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“Red” 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non-syntactic text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876800" y="1828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2819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810000" y="2819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2672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2004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008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34000" y="39624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1242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576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8580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246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7912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2578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7244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1000" y="5029200"/>
            <a:ext cx="2286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>
            <a:stCxn id="15" idx="4"/>
            <a:endCxn id="18" idx="0"/>
          </p:cNvCxnSpPr>
          <p:nvPr/>
        </p:nvCxnSpPr>
        <p:spPr>
          <a:xfrm rot="5400000">
            <a:off x="30861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1" name="Straight Arrow Connector 30"/>
          <p:cNvCxnSpPr>
            <a:stCxn id="15" idx="4"/>
            <a:endCxn id="19" idx="0"/>
          </p:cNvCxnSpPr>
          <p:nvPr/>
        </p:nvCxnSpPr>
        <p:spPr>
          <a:xfrm rot="16200000" flipH="1">
            <a:off x="33528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41910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H="1">
            <a:off x="44577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4" name="Straight Arrow Connector 33"/>
          <p:cNvCxnSpPr/>
          <p:nvPr/>
        </p:nvCxnSpPr>
        <p:spPr>
          <a:xfrm rot="5400000">
            <a:off x="5257800" y="4648201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5" name="Straight Arrow Connector 34"/>
          <p:cNvCxnSpPr/>
          <p:nvPr/>
        </p:nvCxnSpPr>
        <p:spPr>
          <a:xfrm rot="16200000" flipH="1">
            <a:off x="5524500" y="4610101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6248400" y="4648200"/>
            <a:ext cx="5334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7" name="Straight Arrow Connector 36"/>
          <p:cNvCxnSpPr/>
          <p:nvPr/>
        </p:nvCxnSpPr>
        <p:spPr>
          <a:xfrm rot="16200000" flipH="1">
            <a:off x="6515100" y="4610100"/>
            <a:ext cx="533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38" name="Straight Arrow Connector 37"/>
          <p:cNvCxnSpPr>
            <a:stCxn id="13" idx="4"/>
            <a:endCxn id="15" idx="0"/>
          </p:cNvCxnSpPr>
          <p:nvPr/>
        </p:nvCxnSpPr>
        <p:spPr>
          <a:xfrm rot="5400000">
            <a:off x="3467100" y="3352800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1" name="Straight Arrow Connector 40"/>
          <p:cNvCxnSpPr>
            <a:stCxn id="13" idx="4"/>
            <a:endCxn id="14" idx="0"/>
          </p:cNvCxnSpPr>
          <p:nvPr/>
        </p:nvCxnSpPr>
        <p:spPr>
          <a:xfrm rot="16200000" flipH="1">
            <a:off x="4000500" y="34290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>
            <a:off x="5562600" y="3352801"/>
            <a:ext cx="60960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/>
          <p:nvPr/>
        </p:nvCxnSpPr>
        <p:spPr>
          <a:xfrm rot="16200000" flipH="1">
            <a:off x="6096000" y="3429001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6" name="Straight Arrow Connector 45"/>
          <p:cNvCxnSpPr>
            <a:endCxn id="13" idx="7"/>
          </p:cNvCxnSpPr>
          <p:nvPr/>
        </p:nvCxnSpPr>
        <p:spPr>
          <a:xfrm rot="10800000" flipV="1">
            <a:off x="4265286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7" name="Straight Arrow Connector 46"/>
          <p:cNvCxnSpPr>
            <a:endCxn id="12" idx="1"/>
          </p:cNvCxnSpPr>
          <p:nvPr/>
        </p:nvCxnSpPr>
        <p:spPr>
          <a:xfrm>
            <a:off x="5105400" y="2362201"/>
            <a:ext cx="840115" cy="535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54" name="Isosceles Triangle 53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4648200" y="21336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5410200" y="21336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5867400" y="42672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/>
          <p:cNvSpPr/>
          <p:nvPr/>
        </p:nvSpPr>
        <p:spPr>
          <a:xfrm>
            <a:off x="4572000" y="5334000"/>
            <a:ext cx="228600" cy="3048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Resulting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Comments are never attached to “list” parse tree nodes.  E.g.</a:t>
            </a:r>
          </a:p>
          <a:p>
            <a:endParaRPr lang="en-US" dirty="0" smtClean="0"/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// attached to first statement, not stmt list</a:t>
            </a:r>
          </a:p>
          <a:p>
            <a:pPr lvl="1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x = x + 1;</a:t>
            </a:r>
          </a:p>
          <a:p>
            <a:pPr lvl="1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y = y + 1;</a:t>
            </a:r>
          </a:p>
          <a:p>
            <a:pPr lvl="1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But comments can skip up past a list</a:t>
            </a:r>
          </a:p>
          <a:p>
            <a:endParaRPr lang="en-US" dirty="0" smtClean="0"/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// compilation unit comment</a:t>
            </a:r>
          </a:p>
          <a:p>
            <a:pPr lvl="1"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namespace X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class A {}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namespace Y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class B {}</a:t>
            </a:r>
          </a:p>
          <a:p>
            <a:pPr lvl="1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any level in the tree, comments only appear</a:t>
            </a:r>
          </a:p>
          <a:p>
            <a:pPr lvl="1"/>
            <a:r>
              <a:rPr lang="en-US" dirty="0" smtClean="0"/>
              <a:t>Before the node, and/or</a:t>
            </a:r>
          </a:p>
          <a:p>
            <a:pPr lvl="1"/>
            <a:r>
              <a:rPr lang="en-US" dirty="0" smtClean="0"/>
              <a:t>After the node, and/or</a:t>
            </a:r>
          </a:p>
          <a:p>
            <a:pPr lvl="1"/>
            <a:r>
              <a:rPr lang="en-US" dirty="0" smtClean="0"/>
              <a:t>(Recursively) among the node’s children</a:t>
            </a:r>
          </a:p>
          <a:p>
            <a:pPr lvl="1"/>
            <a:r>
              <a:rPr lang="en-US" dirty="0" smtClean="0"/>
              <a:t>Not mixed among immediate children</a:t>
            </a:r>
          </a:p>
          <a:p>
            <a:endParaRPr lang="en-US" dirty="0"/>
          </a:p>
          <a:p>
            <a:r>
              <a:rPr lang="en-US" dirty="0" smtClean="0"/>
              <a:t>Hopefully, simplifies comment 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Model (in the parse tree)?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Comments.</a:t>
            </a:r>
          </a:p>
          <a:p>
            <a:r>
              <a:rPr lang="en-US" dirty="0" smtClean="0"/>
              <a:t>PP-directives</a:t>
            </a:r>
          </a:p>
          <a:p>
            <a:r>
              <a:rPr lang="en-US" dirty="0" smtClean="0"/>
              <a:t>Non-included PP-sections?</a:t>
            </a:r>
          </a:p>
          <a:p>
            <a:r>
              <a:rPr lang="en-US" dirty="0" smtClean="0"/>
              <a:t>Whitespace?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at nodes in two 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Example (statement node):</a:t>
            </a:r>
            <a:endParaRPr lang="en-US" dirty="0" smtClean="0"/>
          </a:p>
          <a:p>
            <a:pPr lvl="2">
              <a:buNone/>
            </a:pP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   #if DEBUG</a:t>
            </a:r>
          </a:p>
          <a:p>
            <a:pPr lvl="2">
              <a:buNone/>
            </a:pP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  // </a:t>
            </a: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this is attached to the left of ‘x’</a:t>
            </a:r>
          </a:p>
          <a:p>
            <a:pPr lvl="2">
              <a:buNone/>
            </a:pP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u="wavyHeavy" dirty="0" smtClean="0">
                <a:uFill>
                  <a:solidFill>
                    <a:srgbClr val="FF0000"/>
                  </a:solidFill>
                </a:uFill>
                <a:latin typeface="Courier New" pitchFamily="49" charset="0"/>
                <a:cs typeface="Courier New" pitchFamily="49" charset="0"/>
              </a:rPr>
              <a:t>x </a:t>
            </a:r>
            <a:r>
              <a:rPr lang="en-US" sz="2000" b="1" u="wavyHeavy" dirty="0" smtClean="0">
                <a:uFill>
                  <a:solidFill>
                    <a:srgbClr val="FF0000"/>
                  </a:solidFill>
                </a:uFill>
                <a:latin typeface="Courier New" pitchFamily="49" charset="0"/>
                <a:cs typeface="Courier New" pitchFamily="49" charset="0"/>
              </a:rPr>
              <a:t>= y + z;</a:t>
            </a:r>
            <a:r>
              <a:rPr lang="en-US" sz="2000" b="1" u="wavyHeavy" dirty="0" smtClean="0">
                <a:uFill>
                  <a:solidFill>
                    <a:srgbClr val="00B0F0"/>
                  </a:solidFill>
                </a:uFill>
                <a:latin typeface="Courier New" pitchFamily="49" charset="0"/>
                <a:cs typeface="Courier New" pitchFamily="49" charset="0"/>
              </a:rPr>
              <a:t> // attached to the right of ‘;’</a:t>
            </a:r>
            <a:endParaRPr lang="en-US" u="wavyHeavy" dirty="0" smtClean="0">
              <a:uFill>
                <a:solidFill>
                  <a:srgbClr val="00B0F0"/>
                </a:solidFill>
              </a:uFill>
            </a:endParaRPr>
          </a:p>
          <a:p>
            <a:endParaRPr lang="en-US" dirty="0" smtClean="0"/>
          </a:p>
          <a:p>
            <a:r>
              <a:rPr lang="en-US" dirty="0" smtClean="0"/>
              <a:t>If you care about syntactic nodes only</a:t>
            </a:r>
          </a:p>
          <a:p>
            <a:pPr lvl="1"/>
            <a:r>
              <a:rPr lang="en-US" dirty="0" err="1" smtClean="0"/>
              <a:t>SyntacticSpan</a:t>
            </a:r>
            <a:r>
              <a:rPr lang="en-US" dirty="0" smtClean="0"/>
              <a:t> (red squiggly)</a:t>
            </a:r>
          </a:p>
          <a:p>
            <a:pPr lvl="1"/>
            <a:r>
              <a:rPr lang="en-US" dirty="0" err="1" smtClean="0"/>
              <a:t>SyntacticChildren</a:t>
            </a:r>
            <a:r>
              <a:rPr lang="en-US" dirty="0" smtClean="0"/>
              <a:t> (assignment-</a:t>
            </a:r>
            <a:r>
              <a:rPr lang="en-US" dirty="0" err="1" smtClean="0"/>
              <a:t>expr</a:t>
            </a:r>
            <a:r>
              <a:rPr lang="en-US" dirty="0" smtClean="0"/>
              <a:t>, semicolon)</a:t>
            </a:r>
          </a:p>
          <a:p>
            <a:r>
              <a:rPr lang="en-US" dirty="0" smtClean="0"/>
              <a:t>If you care about comments and pp-directives</a:t>
            </a:r>
          </a:p>
          <a:p>
            <a:pPr lvl="1"/>
            <a:r>
              <a:rPr lang="en-US" dirty="0" err="1" smtClean="0"/>
              <a:t>FullSpan</a:t>
            </a:r>
            <a:r>
              <a:rPr lang="en-US" dirty="0" smtClean="0"/>
              <a:t> (blue squiggly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AllChildren</a:t>
            </a:r>
            <a:r>
              <a:rPr lang="en-US" dirty="0" smtClean="0"/>
              <a:t> (pp-dir, comment, </a:t>
            </a:r>
            <a:r>
              <a:rPr lang="en-US" dirty="0" smtClean="0"/>
              <a:t>assignment-</a:t>
            </a:r>
            <a:r>
              <a:rPr lang="en-US" dirty="0" err="1" smtClean="0"/>
              <a:t>expr</a:t>
            </a:r>
            <a:r>
              <a:rPr lang="en-US" dirty="0" smtClean="0"/>
              <a:t>, semicolon, comment)</a:t>
            </a:r>
          </a:p>
          <a:p>
            <a:pPr lvl="1"/>
            <a:r>
              <a:rPr lang="en-US" dirty="0" err="1" smtClean="0"/>
              <a:t>LeftNonSyntactic</a:t>
            </a:r>
            <a:r>
              <a:rPr lang="en-US" dirty="0" smtClean="0"/>
              <a:t> (pp-dir, comment)</a:t>
            </a:r>
          </a:p>
          <a:p>
            <a:pPr lvl="1"/>
            <a:r>
              <a:rPr lang="en-US" dirty="0" err="1" smtClean="0"/>
              <a:t>RightNonSyntactic</a:t>
            </a:r>
            <a:r>
              <a:rPr lang="en-US" dirty="0" smtClean="0"/>
              <a:t> (comment)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PP-Tree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separate syntactic model of the PP-language</a:t>
            </a:r>
          </a:p>
          <a:p>
            <a:r>
              <a:rPr lang="en-US" dirty="0" smtClean="0"/>
              <a:t>A section of text without PP-directives is a terminal</a:t>
            </a:r>
          </a:p>
          <a:p>
            <a:r>
              <a:rPr lang="en-US" dirty="0" smtClean="0"/>
              <a:t>PP-tree produced during </a:t>
            </a:r>
            <a:r>
              <a:rPr lang="en-US" dirty="0" err="1" smtClean="0"/>
              <a:t>lexing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When the set of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#define</a:t>
            </a:r>
            <a:r>
              <a:rPr lang="en-US" dirty="0" smtClean="0"/>
              <a:t>s change, full reparse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Can/Should these comment attachment heuristics be improved?</a:t>
            </a:r>
          </a:p>
          <a:p>
            <a:r>
              <a:rPr lang="en-US" dirty="0" smtClean="0"/>
              <a:t>Do comments need parent pointers?</a:t>
            </a:r>
          </a:p>
          <a:p>
            <a:r>
              <a:rPr lang="en-US" dirty="0" smtClean="0"/>
              <a:t>Is this comment strategy “good enough” for whitespace too?</a:t>
            </a:r>
          </a:p>
          <a:p>
            <a:endParaRPr lang="en-US" dirty="0" smtClean="0"/>
          </a:p>
          <a:p>
            <a:r>
              <a:rPr lang="en-US" dirty="0" smtClean="0"/>
              <a:t>How to type trees for multiple languages?</a:t>
            </a:r>
          </a:p>
          <a:p>
            <a:pPr lvl="1"/>
            <a:r>
              <a:rPr lang="en-US" dirty="0" smtClean="0"/>
              <a:t>PP-trees, parse trees, VB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483</Words>
  <Application>Microsoft Office PowerPoint</Application>
  <PresentationFormat>On-screen Show (4:3)</PresentationFormat>
  <Paragraphs>92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Code Model Strawman</vt:lpstr>
      <vt:lpstr>Agenda</vt:lpstr>
      <vt:lpstr>Modeling non-syntactic text</vt:lpstr>
      <vt:lpstr>Modeling non-syntactic text</vt:lpstr>
      <vt:lpstr>Modeling non-syntactic text</vt:lpstr>
      <vt:lpstr>Modeling non-syntactic text</vt:lpstr>
      <vt:lpstr>Modeling non-syntactic text</vt:lpstr>
      <vt:lpstr>Modeling non-syntactic text</vt:lpstr>
      <vt:lpstr>Lists</vt:lpstr>
      <vt:lpstr>Lists</vt:lpstr>
      <vt:lpstr>Properties</vt:lpstr>
      <vt:lpstr>What to Model (in the parse tree)?</vt:lpstr>
      <vt:lpstr>Looking at nodes in two ways</vt:lpstr>
      <vt:lpstr>PP-Tree</vt:lpstr>
      <vt:lpstr>Open Questions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Model Strawman</dc:title>
  <dc:creator>Neal Gafter</dc:creator>
  <cp:lastModifiedBy>Peter Golde</cp:lastModifiedBy>
  <cp:revision>9</cp:revision>
  <dcterms:created xsi:type="dcterms:W3CDTF">2009-07-28T22:42:56Z</dcterms:created>
  <dcterms:modified xsi:type="dcterms:W3CDTF">2009-07-29T00:19:28Z</dcterms:modified>
</cp:coreProperties>
</file>